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Precision / Recall / F1 across all six extraction methods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Dictionary</c:v>
                </c:pt>
                <c:pt idx="1">
                  <c:v>NER</c:v>
                </c:pt>
                <c:pt idx="2">
                  <c:v>TF-IDF</c:v>
                </c:pt>
                <c:pt idx="3">
                  <c:v>Regex</c:v>
                </c:pt>
                <c:pt idx="4">
                  <c:v>ML Classifier</c:v>
                </c:pt>
                <c:pt idx="5">
                  <c:v>Transformer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0.93799999999999994</c:v>
                </c:pt>
                <c:pt idx="1">
                  <c:v>0.94299999999999995</c:v>
                </c:pt>
                <c:pt idx="2">
                  <c:v>0.92600000000000005</c:v>
                </c:pt>
                <c:pt idx="3">
                  <c:v>1</c:v>
                </c:pt>
                <c:pt idx="4">
                  <c:v>0.41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10-4E85-BECF-5869E7614A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Dictionary</c:v>
                </c:pt>
                <c:pt idx="1">
                  <c:v>NER</c:v>
                </c:pt>
                <c:pt idx="2">
                  <c:v>TF-IDF</c:v>
                </c:pt>
                <c:pt idx="3">
                  <c:v>Regex</c:v>
                </c:pt>
                <c:pt idx="4">
                  <c:v>ML Classifier</c:v>
                </c:pt>
                <c:pt idx="5">
                  <c:v>Transformer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0.98499999999999999</c:v>
                </c:pt>
                <c:pt idx="1">
                  <c:v>0.75</c:v>
                </c:pt>
                <c:pt idx="2">
                  <c:v>0.56000000000000005</c:v>
                </c:pt>
                <c:pt idx="3">
                  <c:v>0.38500000000000001</c:v>
                </c:pt>
                <c:pt idx="4">
                  <c:v>0.39500000000000002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10-4E85-BECF-5869E7614A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2A65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Dictionary</c:v>
                </c:pt>
                <c:pt idx="1">
                  <c:v>NER</c:v>
                </c:pt>
                <c:pt idx="2">
                  <c:v>TF-IDF</c:v>
                </c:pt>
                <c:pt idx="3">
                  <c:v>Regex</c:v>
                </c:pt>
                <c:pt idx="4">
                  <c:v>ML Classifier</c:v>
                </c:pt>
                <c:pt idx="5">
                  <c:v>Transformer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0.96099999999999997</c:v>
                </c:pt>
                <c:pt idx="1">
                  <c:v>0.83599999999999997</c:v>
                </c:pt>
                <c:pt idx="2">
                  <c:v>0.69799999999999995</c:v>
                </c:pt>
                <c:pt idx="3">
                  <c:v>0.55600000000000005</c:v>
                </c:pt>
                <c:pt idx="4">
                  <c:v>0.40200000000000002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10-4E85-BECF-5869E7614A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6F8F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3B-45EA-8FD4-EA177B6AA6A3}"/>
              </c:ext>
            </c:extLst>
          </c:dPt>
          <c:dPt>
            <c:idx val="1"/>
            <c:bubble3D val="0"/>
            <c:spPr>
              <a:solidFill>
                <a:srgbClr val="F2A6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3B-45EA-8FD4-EA177B6AA6A3}"/>
              </c:ext>
            </c:extLst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3B-45EA-8FD4-EA177B6AA6A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C3B-45EA-8FD4-EA177B6AA6A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C3B-45EA-8FD4-EA177B6AA6A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3B-45EA-8FD4-EA177B6AA6A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False Negative</c:v>
                </c:pt>
                <c:pt idx="1">
                  <c:v>False Positive</c:v>
                </c:pt>
                <c:pt idx="2">
                  <c:v>Partial Entity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3B-45EA-8FD4-EA177B6AA6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6F8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493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THIS FITS IN THE PROJECT — talking points for each day:
DAY 9 — TF-IDF
- Problem it solves: dictionary matching (Days 7-8) can only find skills we already thought to list. TF-IDF works the other way — it looks at the whole dataset and asks "what words are unusually distinctive to certain postings?" without needing a dictionary at all.
- How it works in the project: every job description is turned into a vector of word scores. A word gets a high score if it appears often in THAT posting but rarely across all 10,000 postings. Common boilerplate like "experience" or "required" gets a low score because it's everywhere.
- Real result: only 149 distinct terms passed scikit-learn's default filtering — the job-posting vocabulary is fairly repetitive/templated. Cross-checking the top 50 terms against our taxonomy showed about half were real skills we'd missed (e.g. "stakeholder", "cross-functional") and half were just generic phrasing.
- Takeaway for the audience: TF-IDF is a discovery tool to find NEW dictionary candidates for a human to review, not a replacement for the dictionary itself.
DAY 10 — N-Grams
- Problem it solves: Day 9's TF-IDF looked at single words only, so a two-word tool name like "Power BI" got shredded into "power" and "bi" — two words that mean nothing on their own.
- How it works in the project: the same TF-IDF process was re-run, but this time allowing the model to score 2-word and 3-word combinations (bigrams/trigrams) as single candidate terms, not just single words.
- Real result: "power bi" now scored as ONE coherent phrase (274.7), instead of "power" (679.6) and "bi" (687.0) being scored separately as two unrelated, meaningless unigrams. This also surfaced other real multi-word skills: "machine learning", "data quality", "database administration", "cloud computing".
- Takeaway: any tool or skill with a multi-word name needs n-gram analysis — single-word statistics alone will always break it apart.
DAY 11 — Word Embeddings / Semantic Similarity
- Problem it solves: even dictionary + n-grams only catch a skill if the EXACT text (or a listed alias) appears. They can't catch a paraphrase or abbreviation nobody thought to add as an alias.
- How it works in the project: used the sentence-transformers library (model: all-MiniLM-L6-v2) to convert both (a) every canonical skill name and (b) chunks of each job description into dense numeric vectors that capture MEANING, not just spelling. Then compared them using cosine similarity — a score of how close two pieces of text are in meaning.
- Real result: this successfully matched "ML" to "Machine Learning" even though the two strings share no common substring at all — something no dictionary or regex approach could ever do. The main challenge was picking the similarity threshold: too low and you get false matches, too high and you miss real paraphrases.
- Takeaway: this is the method built specifically to catch abbreviations and paraphrases that were never anticipated in the taxonomy.
DAY 12 — Custom Named Entity Recognition (NER)
- Problem it solves: spaCy's default, pretrained NER model is trained on general news/web text — it has never seen enough software/tool names to know how to label them.
- How it works in the project: ran the default model first and showed it failing — it labeled "Python" and "PostgreSQL" as GPE (place names!) and didn't detect "AWS" as an entity at all. Then added a spaCy EntityRuler — a rule-based add-on placed BEFORE the default NER step — that uses our existing skill_taxonomy.csv as its list of patterns to tag. It requires no training data at all, unlike training a brand-new NER model from scratch (which would need 200+ hand-labeled examples).
- Real result: this became the SECOND best-performing method overall in Day 15's evaluation (F1 0.836), just behind dictionary matching.
- Takeaway: when you already have a taxonomy, an EntityRuler gets you most of the benefit of NER without the cost of training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840480"/>
            <a:ext cx="3840480" cy="3840480"/>
          </a:xfrm>
          <a:prstGeom prst="ellipse">
            <a:avLst/>
          </a:prstGeom>
          <a:solidFill>
            <a:srgbClr val="2A3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FINAL PROJECT · DAYS 1 – 17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961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Skill Extraction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Natural Language Processing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unstructured job descriptions into structured, canonical skill data — from dictionary matching to transformers.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74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 ·  Machine Learning  ·  Model Evaluation  ·  Dashboarding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reading thousands of job postings to identify required skills is slow, repetitive, and produces inconsistent results across recruiters.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 written many ways: “Python”, “python3”, “Python programming”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automated, repeatable way to structure raw description text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need consistent, comparable skill data at scale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don't distinguish real skills from generic phrasing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0" y="1600200"/>
            <a:ext cx="429768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0" y="19659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9260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raw job postings that need to become structured skill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3794760"/>
            <a:ext cx="3200400" cy="0"/>
          </a:xfrm>
          <a:prstGeom prst="line">
            <a:avLst/>
          </a:prstGeom>
          <a:noFill/>
          <a:ln w="12700">
            <a:solidFill>
              <a:srgbClr val="3C4A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40233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</a:rPr>
              <a:t>Goal: one structured record per posting —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</a:rPr>
              <a:t>role + a clean, canonical skill list.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Use Case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Screening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Convert a posting into role + skills in seconds instead of a manual read-through.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⇄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788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Matching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337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Structured skill lists power resume-to-job matching and candidate ranking.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788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Visibility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337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Aggregate skill demand across postings to spot rising tools and technologies.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▤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788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BI-Ready Data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3375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Clean, canonical output feeds directly into Power BI / Tableau dashboards.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job postings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2926080" cy="0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4747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job_title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job_description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71323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Quality Checks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46888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 confirmed at 10,000 rows across all fields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counts checked per column before cleaning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and duplicate job_description text flagged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length distribution reviewed to size the NLP workload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job_description contains meaningful, usable text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CFB"/>
                </a:solidFill>
              </a:rPr>
              <a:t>postings analyzed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25196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CFB"/>
                </a:solidFill>
              </a:rPr>
              <a:t>avg. skills per posting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2A65A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95528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423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41B47"/>
                </a:solidFill>
              </a:rPr>
              <a:t>distinct TF-IDF terms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642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3429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Visualizations Built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93192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job titles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by location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Description-length distribution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analysis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hiring companies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3657600"/>
            <a:ext cx="0" cy="1965960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39319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A Matplotlib NameError surfaced mid-development, traced to import/variable-order and resolved before charts were finalized — a reminder to verify imports and execution order in notebooks.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</a:rPr>
              <a:t>Raw text → clean_description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488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Remove HTML tags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1488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Strip URLs &amp; emails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1488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9328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9328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1488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Remove phone numbers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867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6118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Normalize whitespace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3611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44568" y="3867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4456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6118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Handle duplicates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3611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39328" y="3867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3932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915400" y="36118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430"/>
                </a:solidFill>
              </a:rPr>
              <a:t>Lowercase text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14400" y="48006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Original job_description is preserved alongside the new clean_description column — nothing is overwritten, so cleaning stays auditable.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 –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Skill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Taxonomy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32888" y="2103120"/>
            <a:ext cx="301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34640" y="210312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34640" y="210312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Tokenize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18888" y="2103120"/>
            <a:ext cx="301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20640" y="210312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20640" y="210312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Remove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Stopwords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04888" y="2103120"/>
            <a:ext cx="301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06640" y="210312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06640" y="210312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Lemmatize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Stem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390888" y="2103120"/>
            <a:ext cx="301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5A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92640" y="210312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92640" y="210312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Sentence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Segment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43434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handled tokenization, stopword processing, and stemming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handled tokenization, linguistic processing, sentence segmentation, and later entity extraction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 was favored over stemming for linguistically valid base forms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 –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4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‘ml’ in ‘html’  →  True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Plain substring matching mis-tagged a Web Developer posting with “Machine Learning” — purely because ‘ml’ sits inside ‘html’.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4663440" cy="0"/>
          </a:xfrm>
          <a:prstGeom prst="line">
            <a:avLst/>
          </a:prstGeom>
          <a:noFill/>
          <a:ln w="12700">
            <a:solidFill>
              <a:srgbClr val="E3E8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177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with \b word boundaries — no more false HTML/ML collision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PhraseMatcher for robust multi-word phrase matching (“power bi”)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8368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 Matching Result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774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= 0.961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337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</a:rPr>
              <a:t>Best-performing method overall, with 0.985 recall — exact/alias matching against a well-maintained taxonomy beat every more sophisticated method tested.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0" y="4892040"/>
            <a:ext cx="4663440" cy="0"/>
          </a:xfrm>
          <a:prstGeom prst="line">
            <a:avLst/>
          </a:prstGeom>
          <a:noFill/>
          <a:ln w="12700">
            <a:solidFill>
              <a:srgbClr val="3C4A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50292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D8"/>
                </a:solidFill>
              </a:rPr>
              <a:t>Every job matched ≥ 1 skill; average ~5 distinct skills per posting.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 – 12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Statistical, Semantic &amp; NER Methods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</a:rPr>
              <a:t>Day 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194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Scored every word in a posting by how often it appears there vs. across all 10,000 postings, so generic words like “experience” don't dominate. No dictionary needed — purely statistical. Used to discover new candidate skills the taxonomy hadn't listed yet.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</a:rPr>
              <a:t>Day 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N-Grams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88920"/>
            <a:ext cx="2194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Re-ran TF-IDF allowing 2- and 3-word phrases, not just single words. Fixed the case where “Power BI” was being split into two meaningless words — “power” and “bi” — by scoring the whole phrase as one unit.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</a:rPr>
              <a:t>Day 11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788920"/>
            <a:ext cx="2194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Converted skills and description text into numeric vectors (all-MiniLM-L6-v2) and compared them by meaning, not spelling. Caught cases the dictionary would miss entirely, e.g. “ML” matching “Machine Learning” with no shared letters.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8116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</a:rPr>
              <a:t>Day 12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NER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2788920"/>
            <a:ext cx="2194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Taught spaCy to tag skill terms directly in the sentence using an EntityRuler built from the taxonomy — fixing the default model's failure to recognize Python/AWS/PostgreSQL as anything meaningful.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+ Logistic Regression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Text  →  Preprocessing  →  TF-IDF  →  ML Model  →  Skill Category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 built from skill_taxonomy.csv — each skill + each alias, labeled by category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examples across 9 categories — several classes with single-digit support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scores on well-represented classes (Database, DevOps)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on sparse classes (Business, Cloud) — too few examples to learn a pattern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6F8FD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751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4231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understanding — TF-IDF matches surface patterns only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Data Analytics (27 examples) vs. Data Engineering (2)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predicts a class, even for genuinely novel terms — low-confidence guesses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75120" y="4343400"/>
            <a:ext cx="4572000" cy="0"/>
          </a:xfrm>
          <a:prstGeom prst="line">
            <a:avLst/>
          </a:prstGeom>
          <a:noFill/>
          <a:ln w="12700">
            <a:solidFill>
              <a:srgbClr val="D6DE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Deliverable: skill_classifier.pkl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</a:rPr>
              <a:t>Dictionary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532888" y="1691640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4640" y="16916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34640" y="1691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</a:rPr>
              <a:t>TF-IDF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818888" y="1691640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0640" y="16916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20640" y="1691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</a:rPr>
              <a:t>Embeddings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04888" y="1691640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06640" y="16916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06640" y="1691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</a:rPr>
              <a:t>NER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390888" y="1691640"/>
            <a:ext cx="301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92640" y="16916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92640" y="1691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B47"/>
                </a:solidFill>
              </a:rPr>
              <a:t>Transformers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3063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dslim/bert-base-NER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5661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BERT-family NER via the Hugging Face pipeline API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the Day 12 custom EntityRuler on the same text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general text (CoNLL: PERSON, ORG, LOC) — no technical-skill category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83464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141B47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83680" y="3063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9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F1 = 0.000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6576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Not a genuine model failure: the evaluation text was already lowercased during Day 4 cleaning, and this model relies heavily on capitalization to detect entities — a pipeline bug, not a bad model.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52120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6D8"/>
                </a:solidFill>
              </a:rPr>
              <a:t>Lesson: a 0.000 across all metrics at once is a diagnostic flag, not a result to report at face value.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11064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</a:rPr>
              <a:t>59 total mismatches across the 40-job NER evaluation sample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1168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201168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3093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Misses Dominate (84.7%)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78892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NER's precision (0.943) far exceeds its recall (0.750) — it rarely misfires, but often misses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Multi-word skills are the recurring miss: “power bi”, “marketing analytics”, “database administration”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look like fragments of real terms (“node”, “js”) — a tokenization/boundary issue, not a bad taxonomy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motivated the Day 17 normalization engine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→ DASHBOARD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</a:rPr>
              <a:t>postings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560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</a:rPr>
              <a:t>avg. skills / job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</a:rPr>
              <a:t>normalization match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5256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0.961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560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</a:rPr>
              <a:t>best method F1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Views (Power BI / Tableau)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0233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Skills ranking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Demand by Role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Distribution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0233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Over Time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Breakdown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F2430"/>
                </a:solidFill>
              </a:rPr>
              <a:t>“We require a Data Scientist with Python, Pandas, NumPy, Scikit-learn, SQL and AWS experience.”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11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65A"/>
                </a:solidFill>
              </a:rPr>
              <a:t>↓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069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348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"role": "Data Scientist",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"skills": ["Python", "Pandas", "NumPy",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"Scikit-learn", "SQL", "AWS"] 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Pipeline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231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input text (Day 4 cleaning function)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dictionary + regex + phrase matching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every match through normalize_skill()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 and return the canonical skill list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0" y="4572000"/>
            <a:ext cx="4663440" cy="0"/>
          </a:xfrm>
          <a:prstGeom prst="line">
            <a:avLst/>
          </a:prstGeom>
          <a:noFill/>
          <a:ln w="12700">
            <a:solidFill>
              <a:srgbClr val="3C4A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D8"/>
                </a:solidFill>
              </a:rPr>
              <a:t>Streamlit front end + FastAPI layer share one extraction implementation.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well-maintained rules beat sophistication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</a:rPr>
              <a:t>Across six extraction methods on the same 10,000-record dataset, dictionary matching against a well-maintained taxonomy (F1 0.961) outperformed regex, TF-IDF, embeddings, custom NER, ML classification, and a pretrained transformer.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D8"/>
                </a:solidFill>
              </a:rPr>
              <a:t>best F1 (Dictionary)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3840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4572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D8"/>
                </a:solidFill>
              </a:rPr>
              <a:t>normalization match rate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3840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572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D8"/>
                </a:solidFill>
              </a:rPr>
              <a:t>days of iterative build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Resume–Job Matching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Extend the pipeline to resumes for direct skill-overlap scoring.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#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Ranking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Combine skill overlap with experience signals to rank candidates.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96596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△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Skill-Gap Analysis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Surface hiring or training gaps across a workforce.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★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983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Suggest training or adjacent roles from skill gaps.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023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◈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Transformer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983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Train on hand-labeled, BIO-tagged skill data.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02336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Expanded Taxonomy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983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Grow the dictionary from TF-IDF/n-gram discovery candidates.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2235</Words>
  <Application>Microsoft Office PowerPoint</Application>
  <PresentationFormat>Widescreen</PresentationFormat>
  <Paragraphs>257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mulla</cp:lastModifiedBy>
  <cp:revision>2</cp:revision>
  <dcterms:created xsi:type="dcterms:W3CDTF">2026-09-06T05:45:32Z</dcterms:created>
  <dcterms:modified xsi:type="dcterms:W3CDTF">2026-09-07T06:22:51Z</dcterms:modified>
</cp:coreProperties>
</file>